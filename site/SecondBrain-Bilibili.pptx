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0" y="1371600"/>
            <a:ext cx="2103120" cy="25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754880" y="1645920"/>
            <a:ext cx="2651760" cy="457200"/>
          </a:xfrm>
          <a:prstGeom prst="roundRect">
            <a:avLst/>
          </a:prstGeom>
          <a:solidFill>
            <a:srgbClr val="DDDBE5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>
                <a:solidFill>
                  <a:srgbClr val="7C3AED"/>
                </a:solidFill>
                <a:latin typeface="Microsoft YaHei"/>
              </a:defRPr>
            </a:pPr>
            <a:r>
              <a:t>Obsidian Plugin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1F2937"/>
                </a:solidFill>
                <a:latin typeface="Microsoft YaHei"/>
              </a:defRPr>
            </a:pPr>
            <a:r>
              <a:t>Second Brain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747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7C3AED"/>
                </a:solidFill>
                <a:latin typeface="Microsoft YaHei"/>
              </a:defRPr>
            </a:pPr>
            <a:r>
              <a:t>AI 驱动的知识编译器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  <a:latin typeface="Microsoft YaHei"/>
              </a:defRPr>
            </a:pPr>
            <a:r>
              <a:t>把散乱的笔记丢进去，AI 自动帮你整理成结构化知识库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5303520"/>
            <a:ext cx="2103120" cy="25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F2937"/>
                </a:solidFill>
                <a:latin typeface="Microsoft YaHei"/>
              </a:defRPr>
            </a:pPr>
            <a:r>
              <a:t>先聊聊 Obsidian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1280160"/>
            <a:ext cx="11887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  <a:latin typeface="Microsoft YaHei"/>
              </a:defRPr>
            </a:pPr>
            <a:r>
              <a:t>一款免费的笔记软件，所有笔记以文件形式存在你的电脑上，你完全拥有数据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2743200"/>
            <a:ext cx="2926080" cy="292608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97480" y="3017520"/>
            <a:ext cx="731520" cy="7315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400">
                <a:solidFill>
                  <a:srgbClr val="1F2937"/>
                </a:solidFill>
                <a:latin typeface="Microsoft YaHei"/>
              </a:defRPr>
            </a:pPr>
            <a:r>
              <a:t>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9319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F2937"/>
                </a:solidFill>
                <a:latin typeface="Microsoft YaHei"/>
              </a:defRPr>
            </a:pPr>
            <a:r>
              <a:t>双向链接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4805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笔记之间可以互相引用</a:t>
            </a:r>
            <a:br/>
            <a:r>
              <a:t>像网页一样跳转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743200"/>
            <a:ext cx="2926080" cy="292608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72200" y="3017520"/>
            <a:ext cx="731520" cy="7315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400">
                <a:solidFill>
                  <a:srgbClr val="1F2937"/>
                </a:solidFill>
                <a:latin typeface="Microsoft YaHei"/>
              </a:defRPr>
            </a:pPr>
            <a:r>
              <a:t>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39319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F2937"/>
                </a:solidFill>
                <a:latin typeface="Microsoft YaHei"/>
              </a:defRPr>
            </a:pPr>
            <a:r>
              <a:t>本地存储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44805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数据在你自己的电脑上</a:t>
            </a:r>
            <a:br/>
            <a:r>
              <a:t>不依赖云服务，隐私安全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2743200"/>
            <a:ext cx="2926080" cy="292608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46920" y="3017520"/>
            <a:ext cx="731520" cy="7315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400">
                <a:solidFill>
                  <a:srgbClr val="1F2937"/>
                </a:solidFill>
                <a:latin typeface="Microsoft YaHei"/>
              </a:defRPr>
            </a:pPr>
            <a:r>
              <a:t>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9319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F2937"/>
                </a:solidFill>
                <a:latin typeface="Microsoft YaHei"/>
              </a:defRPr>
            </a:pPr>
            <a:r>
              <a:t>插件生态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44805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社区开发了千余插件</a:t>
            </a:r>
            <a:br/>
            <a:r>
              <a:t>可以随意定制功能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1F2937"/>
                </a:solidFill>
                <a:latin typeface="Microsoft YaHei"/>
              </a:defRPr>
            </a:pPr>
            <a:r>
              <a:t>但用 Obsidian 越久，你会遇到这些问题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1280160"/>
            <a:ext cx="11887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828800"/>
            <a:ext cx="8503920" cy="73152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>
                <a:solidFill>
                  <a:srgbClr val="6B7280"/>
                </a:solidFill>
                <a:latin typeface="Microsoft YaHei"/>
              </a:defRPr>
            </a:pPr>
            <a:r>
              <a:t>读书笔记写了几十篇，文章剪藏撞了上百条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2788920"/>
            <a:ext cx="8503920" cy="73152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>
                <a:solidFill>
                  <a:srgbClr val="6B7280"/>
                </a:solidFill>
                <a:latin typeface="Microsoft YaHei"/>
              </a:defRPr>
            </a:pPr>
            <a:r>
              <a:t>播客笔记、闪念碎片散落各处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749040"/>
            <a:ext cx="8503920" cy="73152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>
                <a:solidFill>
                  <a:srgbClr val="6B7280"/>
                </a:solidFill>
                <a:latin typeface="Microsoft YaHei"/>
              </a:defRPr>
            </a:pPr>
            <a:r>
              <a:t>写的时候觉得学到了，想用的时候找不到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4709160"/>
            <a:ext cx="8503920" cy="73152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>
                <a:solidFill>
                  <a:srgbClr val="6B7280"/>
                </a:solidFill>
                <a:latin typeface="Microsoft YaHei"/>
              </a:defRPr>
            </a:pPr>
            <a:r>
              <a:t>全局搜索出一堆零散结果，还要自己拼凑上下文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5669280"/>
            <a:ext cx="2286000" cy="640080"/>
          </a:xfrm>
          <a:prstGeom prst="roundRect">
            <a:avLst/>
          </a:prstGeom>
          <a:solidFill>
            <a:srgbClr val="FDEBEB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400">
                <a:solidFill>
                  <a:srgbClr val="DC2626"/>
                </a:solidFill>
                <a:latin typeface="Microsoft YaHei"/>
              </a:defRPr>
            </a:pPr>
            <a:r>
              <a:t>找不到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5669280"/>
            <a:ext cx="2286000" cy="640080"/>
          </a:xfrm>
          <a:prstGeom prst="roundRect">
            <a:avLst/>
          </a:prstGeom>
          <a:solidFill>
            <a:srgbClr val="FDEBEB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400">
                <a:solidFill>
                  <a:srgbClr val="DC2626"/>
                </a:solidFill>
                <a:latin typeface="Microsoft YaHei"/>
              </a:defRPr>
            </a:pPr>
            <a:r>
              <a:t>连不上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669280"/>
            <a:ext cx="2286000" cy="640080"/>
          </a:xfrm>
          <a:prstGeom prst="roundRect">
            <a:avLst/>
          </a:prstGeom>
          <a:solidFill>
            <a:srgbClr val="FDEBEB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400">
                <a:solidFill>
                  <a:srgbClr val="DC2626"/>
                </a:solidFill>
                <a:latin typeface="Microsoft YaHei"/>
              </a:defRPr>
            </a:pPr>
            <a:r>
              <a:t>用不起来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9144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F2937"/>
                </a:solidFill>
                <a:latin typeface="Microsoft YaHei"/>
              </a:defRPr>
            </a:pPr>
            <a:r>
              <a:t>现有的解决方案？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1645920"/>
            <a:ext cx="11887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286000" y="2286000"/>
            <a:ext cx="3200400" cy="91440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400">
                <a:solidFill>
                  <a:srgbClr val="6B7280"/>
                </a:solidFill>
                <a:latin typeface="Microsoft YaHei"/>
              </a:defRPr>
            </a:pPr>
            <a:r>
              <a:t>手动归类整理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24231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C2626"/>
                </a:solidFill>
                <a:latin typeface="Microsoft YaHei"/>
              </a:defRPr>
            </a:pPr>
            <a:r>
              <a:t>太累了，坚持不下来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657600"/>
            <a:ext cx="3200400" cy="91440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400">
                <a:solidFill>
                  <a:srgbClr val="6B7280"/>
                </a:solidFill>
                <a:latin typeface="Microsoft YaHei"/>
              </a:defRPr>
            </a:pPr>
            <a:r>
              <a:t>Dataview 做索引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3794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C2626"/>
                </a:solidFill>
                <a:latin typeface="Microsoft YaHei"/>
              </a:defRPr>
            </a:pPr>
            <a:r>
              <a:t>学习成本太高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5029200"/>
            <a:ext cx="3200400" cy="91440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400">
                <a:solidFill>
                  <a:srgbClr val="6B7280"/>
                </a:solidFill>
                <a:latin typeface="Microsoft YaHei"/>
              </a:defRPr>
            </a:pPr>
            <a:r>
              <a:t>手写双链关系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51663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C2626"/>
                </a:solidFill>
                <a:latin typeface="Microsoft YaHei"/>
              </a:defRPr>
            </a:pPr>
            <a:r>
              <a:t>有效但耗时耗力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828800" cy="411480"/>
          </a:xfrm>
          <a:prstGeom prst="roundRect">
            <a:avLst/>
          </a:prstGeom>
          <a:solidFill>
            <a:srgbClr val="DDDBE5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>
                <a:solidFill>
                  <a:srgbClr val="7C3AED"/>
                </a:solidFill>
                <a:latin typeface="Microsoft YaHei"/>
              </a:defRPr>
            </a:pPr>
            <a:r>
              <a:t>设计理念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灵感来源: Karpathy 的 LLM Wiki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828800" cy="25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Microsoft YaHei"/>
              </a:defRPr>
            </a:pPr>
            <a:r>
              <a:t>OpenAI 前研究科学家 Andrej Karpathy 提出的知识管理方法：让 AI 持续构建一个可复利的 Wiki，而不是每次从零开始检索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200400"/>
            <a:ext cx="2743200" cy="201168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3832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F2937"/>
                </a:solidFill>
                <a:latin typeface="Microsoft YaHei"/>
              </a:defRPr>
            </a:pPr>
            <a:r>
              <a:t>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02336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原始素材层</a:t>
            </a:r>
            <a:br/>
            <a:r>
              <a:t>散乱的笔记、剪藏、闪念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14800" y="3931920"/>
            <a:ext cx="365760" cy="4572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57800" y="3200400"/>
            <a:ext cx="2743200" cy="2011680"/>
          </a:xfrm>
          <a:prstGeom prst="roundRect">
            <a:avLst/>
          </a:prstGeom>
          <a:solidFill>
            <a:srgbClr val="E8E4F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6360" y="33832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6D28D9"/>
                </a:solidFill>
                <a:latin typeface="Microsoft YaHei"/>
              </a:defRPr>
            </a:pPr>
            <a:r>
              <a:t>Wiki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402336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编译输出层</a:t>
            </a:r>
            <a:br/>
            <a:r>
              <a:t>结构化、双链接的知识库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183880" y="3931920"/>
            <a:ext cx="365760" cy="4572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26880" y="3200400"/>
            <a:ext cx="2743200" cy="201168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33832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F2937"/>
                </a:solidFill>
                <a:latin typeface="Microsoft YaHei"/>
              </a:defRPr>
            </a:pPr>
            <a:r>
              <a:t>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02336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元数据层</a:t>
            </a:r>
            <a:br/>
            <a:r>
              <a:t>索引、分类、健康度检查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66928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D28D9"/>
                </a:solidFill>
                <a:latin typeface="Microsoft YaHei"/>
              </a:defRPr>
            </a:pPr>
            <a:r>
              <a:t>Second Brain 就是这个理念的 Obsidian 落地实现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9144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C3AED"/>
                </a:solidFill>
                <a:latin typeface="Microsoft YaHei"/>
              </a:defRPr>
            </a:pPr>
            <a:r>
              <a:t>Second Brain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1463040"/>
            <a:ext cx="11887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把散乱的笔记丢进去，AI 自动帮你整理成</a:t>
            </a:r>
            <a:br/>
            <a:r>
              <a:t>带双向链接的结构化知识库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  <a:latin typeface="Microsoft YaHei"/>
              </a:defRPr>
            </a:pPr>
            <a:r>
              <a:t>安装后直接在 Obsidian 里使用，不需要写代码，不需要技术背景</a:t>
            </a:r>
            <a:br/>
            <a:r>
              <a:t>配置一个 AI API Key 就可以开始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三步构建你的知识体系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1188720"/>
            <a:ext cx="11887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148840" y="1645920"/>
            <a:ext cx="822960" cy="82296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800">
                <a:solidFill>
                  <a:srgbClr val="1F2937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F2937"/>
                </a:solidFill>
                <a:latin typeface="Microsoft YaHei"/>
              </a:defRPr>
            </a:pPr>
            <a:r>
              <a:t>放入素材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291840"/>
            <a:ext cx="2743200" cy="164592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600">
                <a:solidFill>
                  <a:srgbClr val="6B7280"/>
                </a:solidFill>
                <a:latin typeface="Microsoft YaHei"/>
              </a:defRPr>
            </a:pPr>
            <a:r>
              <a:t>文章、读书笔记、闪念笔记</a:t>
            </a:r>
            <a:br/>
            <a:r>
              <a:t>丢到 raw/ 目录即可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14800" y="3749040"/>
            <a:ext cx="365760" cy="4572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0" y="1645920"/>
            <a:ext cx="822960" cy="82296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800">
                <a:solidFill>
                  <a:srgbClr val="1F2937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2651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F2937"/>
                </a:solidFill>
                <a:latin typeface="Microsoft YaHei"/>
              </a:defRPr>
            </a:pPr>
            <a:r>
              <a:t>AI 编译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3291840"/>
            <a:ext cx="2743200" cy="1645920"/>
          </a:xfrm>
          <a:prstGeom prst="roundRect">
            <a:avLst/>
          </a:prstGeom>
          <a:solidFill>
            <a:srgbClr val="E8E4F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600">
                <a:solidFill>
                  <a:srgbClr val="6B7280"/>
                </a:solidFill>
                <a:latin typeface="Microsoft YaHei"/>
              </a:defRPr>
            </a:pPr>
            <a:r>
              <a:t>AI 自动提取概念、实体、来源</a:t>
            </a:r>
            <a:br/>
            <a:r>
              <a:t>生成带双向链接的 Wiki 页面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83880" y="3749040"/>
            <a:ext cx="365760" cy="4572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87000" y="1645920"/>
            <a:ext cx="822960" cy="82296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800">
                <a:solidFill>
                  <a:srgbClr val="1F2937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651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F2937"/>
                </a:solidFill>
                <a:latin typeface="Microsoft YaHei"/>
              </a:defRPr>
            </a:pPr>
            <a:r>
              <a:t>浏览与对话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3291840"/>
            <a:ext cx="2743200" cy="164592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600">
                <a:solidFill>
                  <a:srgbClr val="6B7280"/>
                </a:solidFill>
                <a:latin typeface="Microsoft YaHei"/>
              </a:defRPr>
            </a:pPr>
            <a:r>
              <a:t>卡片索引、AI 对话、语义搜索</a:t>
            </a:r>
            <a:br/>
            <a:r>
              <a:t>你的知识真正“用起来”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828800" cy="411480"/>
          </a:xfrm>
          <a:prstGeom prst="roundRect">
            <a:avLst/>
          </a:prstGeom>
          <a:solidFill>
            <a:srgbClr val="DDDBE5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>
                <a:solidFill>
                  <a:srgbClr val="7C3AED"/>
                </a:solidFill>
                <a:latin typeface="Microsoft YaHei"/>
              </a:defRPr>
            </a:pPr>
            <a:r>
              <a:t>核心功能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AI 编译 -- 碎片自动变结构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828800" cy="25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自动提取概念、实体、知识来源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生成带 [[双向链接]] 的 Wiki 页面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自动构建分类索引（概念 / 实体 / 素材摘要）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增量编译：只处理有变化的文件，后续几秒完成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828800" cy="411480"/>
          </a:xfrm>
          <a:prstGeom prst="roundRect">
            <a:avLst/>
          </a:prstGeom>
          <a:solidFill>
            <a:srgbClr val="DDDBE5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>
                <a:solidFill>
                  <a:srgbClr val="7C3AED"/>
                </a:solidFill>
                <a:latin typeface="Microsoft YaHei"/>
              </a:defRPr>
            </a:pPr>
            <a:r>
              <a:t>核心功能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Wiki 浏览器 -- 你的知识卡片索引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828800" cy="25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卡片式索引，按概念、实体、素材分类浏览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点击卡片查看定义、要点、自动生成的双向链接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每个页面自动关联相关概念，不会产生孤岛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反向链接：看到哪些页面引用了这个概念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828800" cy="411480"/>
          </a:xfrm>
          <a:prstGeom prst="roundRect">
            <a:avLst/>
          </a:prstGeom>
          <a:solidFill>
            <a:srgbClr val="DDDBE5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>
                <a:solidFill>
                  <a:srgbClr val="7C3AED"/>
                </a:solidFill>
                <a:latin typeface="Microsoft YaHei"/>
              </a:defRPr>
            </a:pPr>
            <a:r>
              <a:t>核心功能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知识健康度检查 -- 给你的知识库“体检”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Microsoft YaHei"/>
              </a:defRPr>
            </a:pPr>
            <a:r>
              <a:t>对应 Karpathy 的 lint 操作，自动扫描知识库发现问题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检测孤岛页面：没有双向链接的独立概念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检测死链：链接指向不存在的页面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检测概念缺口：已有素材但未提炼成概念的领域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303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一键修复建议，保持知识库持续健康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286000" cy="411480"/>
          </a:xfrm>
          <a:prstGeom prst="roundRect">
            <a:avLst/>
          </a:prstGeom>
          <a:solidFill>
            <a:srgbClr val="A78BF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>
                <a:solidFill>
                  <a:srgbClr val="1F2937"/>
                </a:solidFill>
                <a:latin typeface="Microsoft YaHei"/>
              </a:defRPr>
            </a:pPr>
            <a:r>
              <a:t>Full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AI 对话 -- 和你的知识库聊天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8288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针对你的知识库提问，AI 从你编译过的知识中找答案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语义搜索：不是关键词匹配，而是理解你的意思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每个回答自动标注 [[wiki-links]] 引用来源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相当于你有了一个“读过你所有笔记”的研究助扏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286000" cy="411480"/>
          </a:xfrm>
          <a:prstGeom prst="roundRect">
            <a:avLst/>
          </a:prstGeom>
          <a:solidFill>
            <a:srgbClr val="A78BF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>
                <a:solidFill>
                  <a:srgbClr val="1F2937"/>
                </a:solidFill>
                <a:latin typeface="Microsoft YaHei"/>
              </a:defRPr>
            </a:pPr>
            <a:r>
              <a:t>Full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自动编译 -- 丢进去就不用管了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8288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监听 raw/ 目录变化，有新素材自动编译，不用手动点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早上丢一篇文章进去，喝杯咖啡回来，知识库已经更新好了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✓  增量编译 + 自动触发，越用越快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素材怎么来？配套插件推荐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1188720"/>
            <a:ext cx="11887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B7280"/>
                </a:solidFill>
                <a:latin typeface="Microsoft YaHei"/>
              </a:defRPr>
            </a:pPr>
            <a:r>
              <a:t>这些 Obsidian 插件帮你把素材自动收集到 raw/ 目录，再用 Second Brain 编译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2377440"/>
            <a:ext cx="2926080" cy="292608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97480" y="2651760"/>
            <a:ext cx="731520" cy="7315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>
                <a:solidFill>
                  <a:srgbClr val="1F2937"/>
                </a:solidFill>
                <a:latin typeface="Microsoft YaHei"/>
              </a:defRPr>
            </a:pPr>
            <a:r>
              <a:t>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5661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F2937"/>
                </a:solidFill>
                <a:latin typeface="Microsoft YaHei"/>
              </a:defRPr>
            </a:pPr>
            <a:r>
              <a:t>Obsidian Web Clipper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114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浏览器插件，一键剪藏网页文章到 raw/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377440"/>
            <a:ext cx="2926080" cy="292608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72200" y="2651760"/>
            <a:ext cx="731520" cy="7315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>
                <a:solidFill>
                  <a:srgbClr val="1F2937"/>
                </a:solidFill>
                <a:latin typeface="Microsoft YaHei"/>
              </a:defRPr>
            </a:pPr>
            <a:r>
              <a:t>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35661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F2937"/>
                </a:solidFill>
                <a:latin typeface="Microsoft YaHei"/>
              </a:defRPr>
            </a:pPr>
            <a:r>
              <a:t>小红书 Importer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4114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导入小红书收藏笔记到 Obsidian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2377440"/>
            <a:ext cx="2926080" cy="292608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46920" y="2651760"/>
            <a:ext cx="731520" cy="7315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>
                <a:solidFill>
                  <a:srgbClr val="1F2937"/>
                </a:solidFill>
                <a:latin typeface="Microsoft YaHei"/>
              </a:defRPr>
            </a:pPr>
            <a: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5661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F2937"/>
                </a:solidFill>
                <a:latin typeface="Microsoft YaHei"/>
              </a:defRPr>
            </a:pPr>
            <a:r>
              <a:t>Podwise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114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自动整理播客内容，生成结构化笔记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66928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59669"/>
                </a:solidFill>
                <a:latin typeface="Microsoft YaHei"/>
              </a:defRPr>
            </a:pPr>
            <a:r>
              <a:t>素材收集 + Second Brain 编译 = 从收集到整理全自动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F2937"/>
                </a:solidFill>
                <a:latin typeface="Microsoft YaHei"/>
              </a:defRPr>
            </a:pPr>
            <a:r>
              <a:t>接下来，直接看效果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3383280"/>
            <a:ext cx="11887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B7280"/>
                </a:solidFill>
                <a:latin typeface="Microsoft YaHei"/>
              </a:defRPr>
            </a:pPr>
            <a:r>
              <a:t>实操演示：安装 -&gt; 配置 -&gt; 编译 -&gt; 浏览 Wiki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费用说明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1097280"/>
            <a:ext cx="11887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371600"/>
            <a:ext cx="4114800" cy="484632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5544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6B7280"/>
                </a:solidFill>
                <a:latin typeface="Microsoft YaHei"/>
              </a:defRPr>
            </a:pPr>
            <a:r>
              <a:t>内测期间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免费体验全部功能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834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Microsoft YaHei"/>
              </a:defRPr>
            </a:pPr>
            <a:r>
              <a:t>首次编译后 14 天全功能体验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Microsoft YaHei"/>
              </a:defRPr>
            </a:pPr>
            <a:r>
              <a:t>✓  AI 编译（全量 / 单文件）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9502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Microsoft YaHei"/>
              </a:defRPr>
            </a:pPr>
            <a:r>
              <a:t>✓  Wiki 浏览器 + AI 对话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42569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Microsoft YaHei"/>
              </a:defRPr>
            </a:pPr>
            <a:r>
              <a:t>✓  自动编译 + 语义搜索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90118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Microsoft YaHei"/>
              </a:defRPr>
            </a:pPr>
            <a:r>
              <a:t>✓  多 LLM 支持 + 多语言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766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Microsoft YaHei"/>
              </a:defRPr>
            </a:pPr>
            <a:r>
              <a:t>✓  知识健康度检查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371600"/>
            <a:ext cx="4389120" cy="4846320"/>
          </a:xfrm>
          <a:prstGeom prst="roundRect">
            <a:avLst/>
          </a:prstGeom>
          <a:solidFill>
            <a:srgbClr val="DDDBE5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75120" y="1188720"/>
            <a:ext cx="1645920" cy="3657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>
                <a:solidFill>
                  <a:srgbClr val="1F2937"/>
                </a:solidFill>
                <a:latin typeface="Microsoft YaHei"/>
              </a:defRPr>
            </a:pPr>
            <a:r>
              <a:t>一次买断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6459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6D28D9"/>
                </a:solidFill>
                <a:latin typeface="Microsoft YaHei"/>
              </a:defRPr>
            </a:pPr>
            <a:r>
              <a:t>全功能版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9456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F2937"/>
                </a:solidFill>
                <a:latin typeface="Microsoft YaHei"/>
              </a:defRPr>
            </a:pPr>
            <a:r>
              <a:t>¥ 30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108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74151"/>
                </a:solidFill>
                <a:latin typeface="Microsoft YaHei"/>
              </a:defRPr>
            </a:pPr>
            <a:r>
              <a:t>✓  试用期全部功能，无限制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5844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74151"/>
                </a:solidFill>
                <a:latin typeface="Microsoft YaHei"/>
              </a:defRPr>
            </a:pPr>
            <a:r>
              <a:t>✓  自动编译 -- 新素材自动处理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05993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74151"/>
                </a:solidFill>
                <a:latin typeface="Microsoft YaHei"/>
              </a:defRPr>
            </a:pPr>
            <a:r>
              <a:t>✓  AI 对话 -- 回答引用 [[wiki-links]]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453542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74151"/>
                </a:solidFill>
                <a:latin typeface="Microsoft YaHei"/>
              </a:defRPr>
            </a:pPr>
            <a:r>
              <a:t>✓  一键切换 LLM 后端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501091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74151"/>
                </a:solidFill>
                <a:latin typeface="Microsoft YaHei"/>
              </a:defRPr>
            </a:pPr>
            <a:r>
              <a:t>✓  知识健康度检查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54864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74151"/>
                </a:solidFill>
                <a:latin typeface="Microsoft YaHei"/>
              </a:defRPr>
            </a:pPr>
            <a:r>
              <a:t>✓  不搞订阅，买一次用一辈子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AI 服务费用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1463040"/>
            <a:ext cx="11887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286000" y="2011680"/>
            <a:ext cx="3200400" cy="73152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>
                <a:solidFill>
                  <a:srgbClr val="6B7280"/>
                </a:solidFill>
                <a:latin typeface="Microsoft YaHei"/>
              </a:defRPr>
            </a:pPr>
            <a:r>
              <a:t>插件试用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21031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9669"/>
                </a:solidFill>
                <a:latin typeface="Microsoft YaHei"/>
              </a:defRPr>
            </a:pPr>
            <a:r>
              <a:t>首次编译后 14 天免费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017520"/>
            <a:ext cx="3200400" cy="73152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>
                <a:solidFill>
                  <a:srgbClr val="6B7280"/>
                </a:solidFill>
                <a:latin typeface="Microsoft YaHei"/>
              </a:defRPr>
            </a:pPr>
            <a:r>
              <a:t>插件买断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31089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9669"/>
                </a:solidFill>
                <a:latin typeface="Microsoft YaHei"/>
              </a:defRPr>
            </a:pPr>
            <a:r>
              <a:t>¥ 30 一次买断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023360"/>
            <a:ext cx="3200400" cy="73152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>
                <a:solidFill>
                  <a:srgbClr val="6B7280"/>
                </a:solidFill>
                <a:latin typeface="Microsoft YaHei"/>
              </a:defRPr>
            </a:pPr>
            <a:r>
              <a:t>DeepSeek API（推荐）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114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9669"/>
                </a:solidFill>
                <a:latin typeface="Microsoft YaHei"/>
              </a:defRPr>
            </a:pPr>
            <a:r>
              <a:t>充值 10 元用几个月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5029200"/>
            <a:ext cx="3200400" cy="731520"/>
          </a:xfrm>
          <a:prstGeom prst="roundRect">
            <a:avLst/>
          </a:prstGeom>
          <a:solidFill>
            <a:srgbClr val="EFEDF6"/>
          </a:solidFill>
          <a:ln w="19050">
            <a:solidFill>
              <a:srgbClr val="DD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>
                <a:solidFill>
                  <a:srgbClr val="6B7280"/>
                </a:solidFill>
                <a:latin typeface="Microsoft YaHei"/>
              </a:defRPr>
            </a:pPr>
            <a:r>
              <a:t>数据安全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5120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9669"/>
                </a:solidFill>
                <a:latin typeface="Microsoft YaHei"/>
              </a:defRPr>
            </a:pPr>
            <a:r>
              <a:t>全部留在本地，不上传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Microsoft YaHei"/>
              </a:defRPr>
            </a:pPr>
            <a:r>
              <a:t>开始使用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1463040"/>
            <a:ext cx="11887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0" y="201168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200">
                <a:solidFill>
                  <a:srgbClr val="1F2937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2103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从 GitHub Releases 下载 zip 包</a:t>
            </a:r>
          </a:p>
        </p:txBody>
      </p:sp>
      <p:sp>
        <p:nvSpPr>
          <p:cNvPr id="6" name="Oval 5"/>
          <p:cNvSpPr/>
          <p:nvPr/>
        </p:nvSpPr>
        <p:spPr>
          <a:xfrm>
            <a:off x="2743200" y="292608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200">
                <a:solidFill>
                  <a:srgbClr val="1F2937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3017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解压后用 Obsidian 打开</a:t>
            </a:r>
          </a:p>
        </p:txBody>
      </p:sp>
      <p:sp>
        <p:nvSpPr>
          <p:cNvPr id="8" name="Oval 7"/>
          <p:cNvSpPr/>
          <p:nvPr/>
        </p:nvSpPr>
        <p:spPr>
          <a:xfrm>
            <a:off x="2743200" y="384048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200">
                <a:solidFill>
                  <a:srgbClr val="1F2937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配置 DeepSeek API Key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475488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200">
                <a:solidFill>
                  <a:srgbClr val="1F2937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4846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74151"/>
                </a:solidFill>
                <a:latin typeface="Microsoft YaHei"/>
              </a:defRPr>
            </a:pPr>
            <a:r>
              <a:t>开始编译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F2937"/>
                </a:solidFill>
                <a:latin typeface="Microsoft YaHei"/>
              </a:defRPr>
            </a:pPr>
            <a:r>
              <a:t>Second Brain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286000"/>
            <a:ext cx="11887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B7280"/>
                </a:solidFill>
                <a:latin typeface="Microsoft YaHei"/>
              </a:defRPr>
            </a:pPr>
            <a:r>
              <a:t>下载地址在简介和评论区置顶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747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  <a:latin typeface="Microsoft YaHei"/>
              </a:defRPr>
            </a:pPr>
            <a:r>
              <a:t>爱发电: ifdian.net/a/ruowenwang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75488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D28D9"/>
                </a:solidFill>
                <a:latin typeface="Microsoft YaHei"/>
              </a:defRPr>
            </a:pPr>
            <a:r>
              <a:t>觉得有用，请一键三连支持一下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