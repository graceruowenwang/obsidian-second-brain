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1371600"/>
            <a:ext cx="2103120" cy="25400"/>
          </a:xfrm>
          <a:prstGeom prst="rect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0" y="1645920"/>
            <a:ext cx="2651760" cy="457200"/>
          </a:xfrm>
          <a:prstGeom prst="roundRect">
            <a:avLst/>
          </a:prstGeom>
          <a:solidFill>
            <a:srgbClr val="2A2445"/>
          </a:solidFill>
          <a:ln w="19050">
            <a:solidFill>
              <a:srgbClr val="705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A086DA"/>
                </a:solidFill>
                <a:latin typeface="Microsoft YaHei"/>
              </a:defRPr>
            </a:pPr>
            <a:r>
              <a:t>Obsidian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F5F5"/>
                </a:solidFill>
                <a:latin typeface="Microsoft YaHei"/>
              </a:defRPr>
            </a:pPr>
            <a:r>
              <a:t>Second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86DA"/>
                </a:solidFill>
                <a:latin typeface="Microsoft YaHei"/>
              </a:defRPr>
            </a:pPr>
            <a:r>
              <a:t>AI 驱动的知识编译器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898B0"/>
                </a:solidFill>
                <a:latin typeface="Microsoft YaHei"/>
              </a:defRPr>
            </a:pPr>
            <a:r>
              <a:t>把散乱的笔记丢进去，AI 自动帮你整理成结构化知识库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303520"/>
            <a:ext cx="2103120" cy="25400"/>
          </a:xfrm>
          <a:prstGeom prst="rect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  <a:latin typeface="Microsoft YaHei"/>
              </a:defRPr>
            </a:pPr>
            <a:r>
              <a:t>先聊聊 Obsidian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28016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898B0"/>
                </a:solidFill>
                <a:latin typeface="Microsoft YaHei"/>
              </a:defRPr>
            </a:pPr>
            <a:r>
              <a:t>一款免费的笔记软件，所有笔记以文件形式存在你的电脑上，你完全拥有数据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743200"/>
            <a:ext cx="2926080" cy="292608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97480" y="3017520"/>
            <a:ext cx="731520" cy="73152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F5F5F5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5F5"/>
                </a:solidFill>
                <a:latin typeface="Microsoft YaHei"/>
              </a:defRPr>
            </a:pPr>
            <a:r>
              <a:t>双向链接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Microsoft YaHei"/>
              </a:defRPr>
            </a:pPr>
            <a:r>
              <a:t>笔记之间可以互相引用</a:t>
            </a:r>
            <a:br/>
            <a:r>
              <a:t>像网页一样跳转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43200"/>
            <a:ext cx="2926080" cy="292608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72200" y="3017520"/>
            <a:ext cx="731520" cy="73152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F5F5F5"/>
                </a:solidFill>
                <a:latin typeface="Microsoft YaHei"/>
              </a:defRPr>
            </a:pPr>
            <a:r>
              <a:t>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5F5"/>
                </a:solidFill>
                <a:latin typeface="Microsoft YaHei"/>
              </a:defRPr>
            </a:pPr>
            <a:r>
              <a:t>本地存储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Microsoft YaHei"/>
              </a:defRPr>
            </a:pPr>
            <a:r>
              <a:t>数据在你自己的电脑上</a:t>
            </a:r>
            <a:br/>
            <a:r>
              <a:t>不依赖云服务，隐私安全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743200"/>
            <a:ext cx="2926080" cy="292608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6920" y="3017520"/>
            <a:ext cx="731520" cy="73152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F5F5F5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5F5"/>
                </a:solidFill>
                <a:latin typeface="Microsoft YaHei"/>
              </a:defRPr>
            </a:pPr>
            <a:r>
              <a:t>插件生态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80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8B0"/>
                </a:solidFill>
                <a:latin typeface="Microsoft YaHei"/>
              </a:defRPr>
            </a:pPr>
            <a:r>
              <a:t>社区开发了千余插件</a:t>
            </a:r>
            <a:br/>
            <a:r>
              <a:t>可以随意定制功能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F5F5"/>
                </a:solidFill>
                <a:latin typeface="Microsoft YaHei"/>
              </a:defRPr>
            </a:pPr>
            <a:r>
              <a:t>但用 Obsidian 越久，你会遇到这些问题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28016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0392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读书笔记写了几十篇，文章剪藏撞了上百条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88920"/>
            <a:ext cx="850392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播客笔记、闪念碎片散落各处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749040"/>
            <a:ext cx="850392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写的时候觉得学到了，想用的时候找不到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09160"/>
            <a:ext cx="850392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全局搜索出一堆零散结果，还要自己拼凑上下文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669280"/>
            <a:ext cx="2286000" cy="640080"/>
          </a:xfrm>
          <a:prstGeom prst="roundRect">
            <a:avLst/>
          </a:prstGeom>
          <a:solidFill>
            <a:srgbClr val="3D253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E06C75"/>
                </a:solidFill>
                <a:latin typeface="Microsoft YaHei"/>
              </a:defRPr>
            </a:pPr>
            <a:r>
              <a:t>找不到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669280"/>
            <a:ext cx="2286000" cy="640080"/>
          </a:xfrm>
          <a:prstGeom prst="roundRect">
            <a:avLst/>
          </a:prstGeom>
          <a:solidFill>
            <a:srgbClr val="3D253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E06C75"/>
                </a:solidFill>
                <a:latin typeface="Microsoft YaHei"/>
              </a:defRPr>
            </a:pPr>
            <a:r>
              <a:t>连不上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669280"/>
            <a:ext cx="2286000" cy="640080"/>
          </a:xfrm>
          <a:prstGeom prst="roundRect">
            <a:avLst/>
          </a:prstGeom>
          <a:solidFill>
            <a:srgbClr val="3D2530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E06C75"/>
                </a:solidFill>
                <a:latin typeface="Microsoft YaHei"/>
              </a:defRPr>
            </a:pPr>
            <a:r>
              <a:t>用不起来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  <a:latin typeface="Microsoft YaHei"/>
              </a:defRPr>
            </a:pPr>
            <a:r>
              <a:t>现有的解决方案？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64592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3200400" cy="91440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9898B0"/>
                </a:solidFill>
                <a:latin typeface="Microsoft YaHei"/>
              </a:defRPr>
            </a:pPr>
            <a:r>
              <a:t>手动归类整理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423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06C75"/>
                </a:solidFill>
                <a:latin typeface="Microsoft YaHei"/>
              </a:defRPr>
            </a:pPr>
            <a:r>
              <a:t>太累了，坚持不下来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3200400" cy="91440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9898B0"/>
                </a:solidFill>
                <a:latin typeface="Microsoft YaHei"/>
              </a:defRPr>
            </a:pPr>
            <a:r>
              <a:t>Dataview 做索引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794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06C75"/>
                </a:solidFill>
                <a:latin typeface="Microsoft YaHei"/>
              </a:defRPr>
            </a:pPr>
            <a:r>
              <a:t>学习成本太高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3200400" cy="91440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400">
                <a:solidFill>
                  <a:srgbClr val="9898B0"/>
                </a:solidFill>
                <a:latin typeface="Microsoft YaHei"/>
              </a:defRPr>
            </a:pPr>
            <a:r>
              <a:t>手写双链关系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166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06C75"/>
                </a:solidFill>
                <a:latin typeface="Microsoft YaHei"/>
              </a:defRPr>
            </a:pPr>
            <a:r>
              <a:t>有效但耗时耗力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411480"/>
          </a:xfrm>
          <a:prstGeom prst="roundRect">
            <a:avLst/>
          </a:prstGeom>
          <a:solidFill>
            <a:srgbClr val="2A2445"/>
          </a:solidFill>
          <a:ln w="19050">
            <a:solidFill>
              <a:srgbClr val="705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A086DA"/>
                </a:solidFill>
                <a:latin typeface="Microsoft YaHei"/>
              </a:defRPr>
            </a:pPr>
            <a:r>
              <a:t>设计理念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灵感来源: Karpathy 的 LLM Wiki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25400"/>
          </a:xfrm>
          <a:prstGeom prst="rect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898B0"/>
                </a:solidFill>
                <a:latin typeface="Microsoft YaHei"/>
              </a:defRPr>
            </a:pPr>
            <a:r>
              <a:t>OpenAI 前研究科学家 Andrej Karpathy 提出的知识管理方法：让 AI 持续构建一个可复利的 Wiki，而不是每次从零开始检索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200400"/>
            <a:ext cx="2743200" cy="201168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5F5"/>
                </a:solidFill>
                <a:latin typeface="Microsoft YaHei"/>
              </a:defRPr>
            </a:pPr>
            <a: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898B0"/>
                </a:solidFill>
                <a:latin typeface="Microsoft YaHei"/>
              </a:defRPr>
            </a:pPr>
            <a:r>
              <a:t>原始素材层</a:t>
            </a:r>
            <a:br/>
            <a:r>
              <a:t>散乱的笔记、剪藏、闪念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3931920"/>
            <a:ext cx="365760" cy="457200"/>
          </a:xfrm>
          <a:prstGeom prst="rightArrow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3200400"/>
            <a:ext cx="2743200" cy="2011680"/>
          </a:xfrm>
          <a:prstGeom prst="roundRect">
            <a:avLst/>
          </a:prstGeom>
          <a:solidFill>
            <a:srgbClr val="302C44"/>
          </a:solidFill>
          <a:ln w="19050">
            <a:solidFill>
              <a:srgbClr val="A08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3383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B99FF"/>
                </a:solidFill>
                <a:latin typeface="Microsoft YaHei"/>
              </a:defRPr>
            </a:pPr>
            <a:r>
              <a:t>Wiki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898B0"/>
                </a:solidFill>
                <a:latin typeface="Microsoft YaHei"/>
              </a:defRPr>
            </a:pPr>
            <a:r>
              <a:t>编译输出层</a:t>
            </a:r>
            <a:br/>
            <a:r>
              <a:t>结构化、双链接的知识库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83880" y="3931920"/>
            <a:ext cx="365760" cy="457200"/>
          </a:xfrm>
          <a:prstGeom prst="rightArrow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3200400"/>
            <a:ext cx="2743200" cy="201168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383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5F5"/>
                </a:solidFill>
                <a:latin typeface="Microsoft YaHei"/>
              </a:defRPr>
            </a:pPr>
            <a: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898B0"/>
                </a:solidFill>
                <a:latin typeface="Microsoft YaHei"/>
              </a:defRPr>
            </a:pPr>
            <a:r>
              <a:t>元数据层</a:t>
            </a:r>
            <a:br/>
            <a:r>
              <a:t>索引、分类、健康度检查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99FF"/>
                </a:solidFill>
                <a:latin typeface="Microsoft YaHei"/>
              </a:defRPr>
            </a:pPr>
            <a:r>
              <a:t>Second Brain 就是这个理念的 Obsidian 落地实现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86DA"/>
                </a:solidFill>
                <a:latin typeface="Microsoft YaHei"/>
              </a:defRPr>
            </a:pPr>
            <a:r>
              <a:t>Second 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46304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把散乱的笔记丢进去，AI 自动帮你整理成</a:t>
            </a:r>
            <a:br/>
            <a:r>
              <a:t>带双向链接的结构化知识库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898B0"/>
                </a:solidFill>
                <a:latin typeface="Microsoft YaHei"/>
              </a:defRPr>
            </a:pPr>
            <a:r>
              <a:t>安装后直接在 Obsidian 里使用，不需要写代码，不需要技术背景</a:t>
            </a:r>
            <a:br/>
            <a:r>
              <a:t>配置一个 AI API Key 就可以开始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三步构建你的知识体系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18872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48840" y="1645920"/>
            <a:ext cx="822960" cy="82296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>
                <a:solidFill>
                  <a:srgbClr val="F5F5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5F5"/>
                </a:solidFill>
                <a:latin typeface="Microsoft YaHei"/>
              </a:defRPr>
            </a:pPr>
            <a:r>
              <a:t>放入素材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291840"/>
            <a:ext cx="2743200" cy="16459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>
                <a:solidFill>
                  <a:srgbClr val="9898B0"/>
                </a:solidFill>
                <a:latin typeface="Microsoft YaHei"/>
              </a:defRPr>
            </a:pPr>
            <a:r>
              <a:t>文章、读书笔记、闪念笔记</a:t>
            </a:r>
            <a:br/>
            <a:r>
              <a:t>丢到 raw/ 目录即可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3749040"/>
            <a:ext cx="365760" cy="457200"/>
          </a:xfrm>
          <a:prstGeom prst="rightArrow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1645920"/>
            <a:ext cx="822960" cy="82296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>
                <a:solidFill>
                  <a:srgbClr val="F5F5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5F5"/>
                </a:solidFill>
                <a:latin typeface="Microsoft YaHei"/>
              </a:defRPr>
            </a:pPr>
            <a:r>
              <a:t>AI 编译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3291840"/>
            <a:ext cx="2743200" cy="1645920"/>
          </a:xfrm>
          <a:prstGeom prst="roundRect">
            <a:avLst/>
          </a:prstGeom>
          <a:solidFill>
            <a:srgbClr val="302C44"/>
          </a:solidFill>
          <a:ln w="19050">
            <a:solidFill>
              <a:srgbClr val="A08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>
                <a:solidFill>
                  <a:srgbClr val="9898B0"/>
                </a:solidFill>
                <a:latin typeface="Microsoft YaHei"/>
              </a:defRPr>
            </a:pPr>
            <a:r>
              <a:t>AI 自动提取概念、实体、来源</a:t>
            </a:r>
            <a:br/>
            <a:r>
              <a:t>生成带双向链接的 Wiki 页面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83880" y="3749040"/>
            <a:ext cx="365760" cy="457200"/>
          </a:xfrm>
          <a:prstGeom prst="rightArrow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87000" y="1645920"/>
            <a:ext cx="822960" cy="82296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>
                <a:solidFill>
                  <a:srgbClr val="F5F5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F5F5"/>
                </a:solidFill>
                <a:latin typeface="Microsoft YaHei"/>
              </a:defRPr>
            </a:pPr>
            <a:r>
              <a:t>浏览与对话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291840"/>
            <a:ext cx="2743200" cy="16459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>
                <a:solidFill>
                  <a:srgbClr val="9898B0"/>
                </a:solidFill>
                <a:latin typeface="Microsoft YaHei"/>
              </a:defRPr>
            </a:pPr>
            <a:r>
              <a:t>卡片索引、AI 对话、语义搜索</a:t>
            </a:r>
            <a:br/>
            <a:r>
              <a:t>你的知识真正“用起来”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411480"/>
          </a:xfrm>
          <a:prstGeom prst="roundRect">
            <a:avLst/>
          </a:prstGeom>
          <a:solidFill>
            <a:srgbClr val="2A2445"/>
          </a:solidFill>
          <a:ln w="19050">
            <a:solidFill>
              <a:srgbClr val="705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A086DA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AI 编译 -- 碎片自动变结构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25400"/>
          </a:xfrm>
          <a:prstGeom prst="rect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自动提取概念、实体、知识来源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生成带 [[双向链接]] 的 Wiki 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自动构建分类索引（概念 / 实体 / 素材摘要）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增量编译：只处理有变化的文件，后续几秒完成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411480"/>
          </a:xfrm>
          <a:prstGeom prst="roundRect">
            <a:avLst/>
          </a:prstGeom>
          <a:solidFill>
            <a:srgbClr val="2A2445"/>
          </a:solidFill>
          <a:ln w="19050">
            <a:solidFill>
              <a:srgbClr val="705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A086DA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Wiki 浏览器 -- 你的知识卡片索引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25400"/>
          </a:xfrm>
          <a:prstGeom prst="rect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卡片式索引，按概念、实体、素材分类浏览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点击卡片查看定义、要点、自动生成的双向链接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每个页面自动关联相关概念，不会产生孤岛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反向链接：看到哪些页面引用了这个概念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058A5"/>
          </a:solidFill>
          <a:ln w="19050">
            <a:solidFill>
              <a:srgbClr val="A08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5F5F5"/>
                </a:solidFill>
                <a:latin typeface="Microsoft YaHei"/>
              </a:defRPr>
            </a:pPr>
            <a:r>
              <a:t>Full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AI 对话 -- 和你的知识库聊天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针对你的知识库提问，AI 从你编译过的知识中找答案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语义搜索：不是关键词匹配，而是理解你的意思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每个回答自动标注 [[wiki-links]] 引用来源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相当于你有了一个“读过你所有笔记”的研究助扏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286000" cy="411480"/>
          </a:xfrm>
          <a:prstGeom prst="roundRect">
            <a:avLst/>
          </a:prstGeom>
          <a:solidFill>
            <a:srgbClr val="7058A5"/>
          </a:solidFill>
          <a:ln w="19050">
            <a:solidFill>
              <a:srgbClr val="A08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5F5F5"/>
                </a:solidFill>
                <a:latin typeface="Microsoft YaHei"/>
              </a:defRPr>
            </a:pPr>
            <a:r>
              <a:t>Full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自动编译 -- 丢进去就不用管了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监听 raw/ 目录变化，有新素材自动编译，不用手动点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早上丢一篇文章进去，喝杯咖啡回来，知识库已经更新好了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✓  增量编译 + 自动触发，越用越快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  <a:latin typeface="Microsoft YaHei"/>
              </a:defRPr>
            </a:pPr>
            <a:r>
              <a:t>接下来，直接看效果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38328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898B0"/>
                </a:solidFill>
                <a:latin typeface="Microsoft YaHei"/>
              </a:defRPr>
            </a:pPr>
            <a:r>
              <a:t>实操演示：安装 -&gt; 配置 -&gt; 编译 -&gt; 浏览 Wiki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费用说明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09728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4114800" cy="48463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898B0"/>
                </a:solidFill>
                <a:latin typeface="Microsoft YaHei"/>
              </a:defRPr>
            </a:pPr>
            <a:r>
              <a:t>内测期间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免费体验全部功能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86880"/>
                </a:solidFill>
                <a:latin typeface="Microsoft YaHei"/>
              </a:defRPr>
            </a:pPr>
            <a:r>
              <a:t>首次编译后 14 天全功能体验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Microsoft YaHei"/>
              </a:defRPr>
            </a:pPr>
            <a:r>
              <a:t>✓  AI 编译（全量 / 单文件）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50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Microsoft YaHei"/>
              </a:defRPr>
            </a:pPr>
            <a:r>
              <a:t>✓  Wiki 浏览器 + AI 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Microsoft YaHei"/>
              </a:defRPr>
            </a:pPr>
            <a:r>
              <a:t>✓  自动编译 + 语义搜索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011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Microsoft YaHei"/>
              </a:defRPr>
            </a:pPr>
            <a:r>
              <a:t>✓  多 LLM 支持 + 多语言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766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0"/>
                </a:solidFill>
                <a:latin typeface="Microsoft YaHei"/>
              </a:defRPr>
            </a:pPr>
            <a:r>
              <a:t>✓  知识健康度检查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4389120" cy="4846320"/>
          </a:xfrm>
          <a:prstGeom prst="roundRect">
            <a:avLst/>
          </a:prstGeom>
          <a:solidFill>
            <a:srgbClr val="2A2445"/>
          </a:solidFill>
          <a:ln w="19050">
            <a:solidFill>
              <a:srgbClr val="A08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188720"/>
            <a:ext cx="1645920" cy="365760"/>
          </a:xfrm>
          <a:prstGeom prst="round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一次买断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B99FF"/>
                </a:solidFill>
                <a:latin typeface="Microsoft YaHei"/>
              </a:defRPr>
            </a:pPr>
            <a:r>
              <a:t>全功能版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5F5"/>
                </a:solidFill>
                <a:latin typeface="Microsoft YaHei"/>
              </a:defRPr>
            </a:pPr>
            <a:r>
              <a:t>¥ 30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试用期全部功能，无限制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84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自动编译 -- 新素材自动处理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599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AI 对话 -- 回答引用 [[wiki-links]]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5354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一键切换 LLM 后端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010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知识健康度检查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86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DCDC"/>
                </a:solidFill>
                <a:latin typeface="Microsoft YaHei"/>
              </a:defRPr>
            </a:pPr>
            <a:r>
              <a:t>✓  不搞订阅，买一次用一辈子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AI 服务费用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46304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011680"/>
            <a:ext cx="320040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插件试用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03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首次编译后 14 天免费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017520"/>
            <a:ext cx="320040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插件买断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¥ 30 一次买断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23360"/>
            <a:ext cx="320040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DeepSeek API（推荐）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充值 10 元用几个月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029200"/>
            <a:ext cx="3200400" cy="731520"/>
          </a:xfrm>
          <a:prstGeom prst="roundRect">
            <a:avLst/>
          </a:prstGeom>
          <a:solidFill>
            <a:srgbClr val="2A273B"/>
          </a:solidFill>
          <a:ln w="19050">
            <a:solidFill>
              <a:srgbClr val="3C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000">
                <a:solidFill>
                  <a:srgbClr val="9898B0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120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icrosoft YaHei"/>
              </a:defRPr>
            </a:pPr>
            <a:r>
              <a:t>全部留在本地，不上传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5"/>
                </a:solidFill>
                <a:latin typeface="Microsoft YaHei"/>
              </a:defRPr>
            </a:pPr>
            <a:r>
              <a:t>开始使用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46304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2011680"/>
            <a:ext cx="640080" cy="64008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>
                <a:solidFill>
                  <a:srgbClr val="F5F5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03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从 GitHub Releases 下载 zip 包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2926080"/>
            <a:ext cx="640080" cy="64008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>
                <a:solidFill>
                  <a:srgbClr val="F5F5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解压后用 Obsidian 打开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840480"/>
            <a:ext cx="640080" cy="64008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>
                <a:solidFill>
                  <a:srgbClr val="F5F5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配置 DeepSeek API Key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4754880"/>
            <a:ext cx="640080" cy="640080"/>
          </a:xfrm>
          <a:prstGeom prst="ellipse">
            <a:avLst/>
          </a:prstGeom>
          <a:solidFill>
            <a:srgbClr val="705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200">
                <a:solidFill>
                  <a:srgbClr val="F5F5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846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CDCDC"/>
                </a:solidFill>
                <a:latin typeface="Microsoft YaHei"/>
              </a:defRPr>
            </a:pPr>
            <a:r>
              <a:t>开始编译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  <a:latin typeface="Microsoft YaHei"/>
              </a:defRPr>
            </a:pPr>
            <a:r>
              <a:t>Second 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2286000"/>
            <a:ext cx="1188720" cy="25400"/>
          </a:xfrm>
          <a:prstGeom prst="rect">
            <a:avLst/>
          </a:prstGeom>
          <a:solidFill>
            <a:srgbClr val="A08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898B0"/>
                </a:solidFill>
                <a:latin typeface="Microsoft YaHei"/>
              </a:defRPr>
            </a:pPr>
            <a:r>
              <a:t>下载地址在简介和评论区置顶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0"/>
                </a:solidFill>
                <a:latin typeface="Microsoft YaHei"/>
              </a:defRPr>
            </a:pPr>
            <a:r>
              <a:t>爱发电: ifdian.net/a/ruowenwang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B99FF"/>
                </a:solidFill>
                <a:latin typeface="Microsoft YaHei"/>
              </a:defRPr>
            </a:pPr>
            <a:r>
              <a:t>觉得有用，请一键三连支持一下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